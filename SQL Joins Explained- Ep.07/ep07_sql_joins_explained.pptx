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6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4A00"/>
          </a:solidFill>
          <a:ln w="12700">
            <a:solidFill>
              <a:srgbClr val="D44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2A2218"/>
          </a:solidFill>
          <a:ln w="12700">
            <a:solidFill>
              <a:srgbClr val="4A3E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B8B70"/>
                </a:solidFill>
              </a:rPr>
              <a:t>EPISODE 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 Joins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44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Explained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9B8B70"/>
                </a:solidFill>
              </a:rPr>
              <a:t>INNER  ·  LEFT  ·  RIGHT  ·  FULL OUTER  ·  SELF JOIN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E4A"/>
                </a:solidFill>
              </a:rPr>
              <a:t>SQL for Data Analysts — Zero to Advanced  |  sql-for-data-analysts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182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CAB8"/>
                </a:solidFill>
              </a:rPr>
              <a:t>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6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 JOIN?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16459"/>
          </a:xfrm>
          <a:prstGeom prst="rect">
            <a:avLst/>
          </a:prstGeom>
          <a:solidFill>
            <a:srgbClr val="D4CAB8"/>
          </a:solidFill>
          <a:ln w="12700">
            <a:solidFill>
              <a:srgbClr val="D4CA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A6E5F"/>
                </a:solidFill>
              </a:rPr>
              <a:t>In a relational database, data is split across multiple tables. A JOIN combines rows from two or more tables based on a related column.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4747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A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74520"/>
            <a:ext cx="3474720" cy="347472"/>
          </a:xfrm>
          <a:prstGeom prst="rect">
            <a:avLst/>
          </a:prstGeom>
          <a:solidFill>
            <a:srgbClr val="D44A00"/>
          </a:solidFill>
          <a:ln w="12700">
            <a:solidFill>
              <a:srgbClr val="D44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745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Customers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21992"/>
            <a:ext cx="3474720" cy="338328"/>
          </a:xfrm>
          <a:prstGeom prst="rect">
            <a:avLst/>
          </a:prstGeom>
          <a:solidFill>
            <a:srgbClr val="F5EFE6"/>
          </a:solidFill>
          <a:ln w="12700">
            <a:solidFill>
              <a:srgbClr val="EDE7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21992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6E5F"/>
                </a:solidFill>
              </a:rPr>
              <a:t>customer_id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2221992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6E5F"/>
                </a:solidFill>
              </a:rPr>
              <a:t>name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3474720" cy="338328"/>
          </a:xfrm>
          <a:prstGeom prst="rect">
            <a:avLst/>
          </a:prstGeom>
          <a:solidFill>
            <a:srgbClr val="FAF7F3"/>
          </a:solidFill>
          <a:ln w="12700">
            <a:solidFill>
              <a:srgbClr val="EDE7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60320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610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2560320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610"/>
                </a:solidFill>
              </a:rPr>
              <a:t>Rahul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98648"/>
            <a:ext cx="34747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9864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610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289864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610"/>
                </a:solidFill>
              </a:rPr>
              <a:t>Priya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36976"/>
            <a:ext cx="3474720" cy="338328"/>
          </a:xfrm>
          <a:prstGeom prst="rect">
            <a:avLst/>
          </a:prstGeom>
          <a:solidFill>
            <a:srgbClr val="FAF7F3"/>
          </a:solidFill>
          <a:ln w="12700">
            <a:solidFill>
              <a:srgbClr val="EDE7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36976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610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3236976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610"/>
                </a:solidFill>
              </a:rPr>
              <a:t>Ankit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977640" y="2651760"/>
            <a:ext cx="1188720" cy="54864"/>
          </a:xfrm>
          <a:prstGeom prst="rect">
            <a:avLst/>
          </a:prstGeom>
          <a:solidFill>
            <a:srgbClr val="D44A00"/>
          </a:solidFill>
          <a:ln w="12700">
            <a:solidFill>
              <a:srgbClr val="D44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0" y="2788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4A00"/>
                </a:solidFill>
              </a:rPr>
              <a:t>JOIN 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44A00"/>
                </a:solidFill>
              </a:rPr>
              <a:t>customer_id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12080" y="1874520"/>
            <a:ext cx="34747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A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212080" y="1874520"/>
            <a:ext cx="3474720" cy="347472"/>
          </a:xfrm>
          <a:prstGeom prst="rect">
            <a:avLst/>
          </a:prstGeom>
          <a:solidFill>
            <a:srgbClr val="0A7A5A"/>
          </a:solidFill>
          <a:ln w="12700">
            <a:solidFill>
              <a:srgbClr val="0A7A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18745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Orders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212080" y="2221992"/>
            <a:ext cx="3474720" cy="338328"/>
          </a:xfrm>
          <a:prstGeom prst="rect">
            <a:avLst/>
          </a:prstGeom>
          <a:solidFill>
            <a:srgbClr val="F0F8F5"/>
          </a:solidFill>
          <a:ln w="12700">
            <a:solidFill>
              <a:srgbClr val="D4ED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2221992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6E5F"/>
                </a:solidFill>
              </a:rPr>
              <a:t>order_id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03720" y="2221992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6E5F"/>
                </a:solidFill>
              </a:rPr>
              <a:t>customer_id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12080" y="2560320"/>
            <a:ext cx="3474720" cy="338328"/>
          </a:xfrm>
          <a:prstGeom prst="rect">
            <a:avLst/>
          </a:prstGeom>
          <a:solidFill>
            <a:srgbClr val="F5FCF9"/>
          </a:solidFill>
          <a:ln w="12700">
            <a:solidFill>
              <a:srgbClr val="D4ED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2560320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610"/>
                </a:solidFill>
              </a:rPr>
              <a:t>101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03720" y="2560320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610"/>
                </a:solidFill>
              </a:rPr>
              <a:t>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212080" y="2898648"/>
            <a:ext cx="34747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289864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610"/>
                </a:solidFill>
              </a:rPr>
              <a:t>102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03720" y="289864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610"/>
                </a:solidFill>
              </a:rPr>
              <a:t>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212080" y="3236976"/>
            <a:ext cx="3474720" cy="338328"/>
          </a:xfrm>
          <a:prstGeom prst="rect">
            <a:avLst/>
          </a:prstGeom>
          <a:solidFill>
            <a:srgbClr val="F5FCF9"/>
          </a:solidFill>
          <a:ln w="12700">
            <a:solidFill>
              <a:srgbClr val="D4ED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57800" y="3236976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610"/>
                </a:solidFill>
              </a:rPr>
              <a:t>103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03720" y="3236976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610"/>
                </a:solidFill>
              </a:rPr>
              <a:t>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solidFill>
            <a:srgbClr val="FFF3E8"/>
          </a:solidFill>
          <a:ln w="12700">
            <a:solidFill>
              <a:srgbClr val="F5C8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3749040"/>
            <a:ext cx="73152" cy="777240"/>
          </a:xfrm>
          <a:prstGeom prst="rect">
            <a:avLst/>
          </a:prstGeom>
          <a:solidFill>
            <a:srgbClr val="D44A00"/>
          </a:solidFill>
          <a:ln w="12700">
            <a:solidFill>
              <a:srgbClr val="D44A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37490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610"/>
                </a:solidFill>
              </a:rPr>
              <a:t>A JOIN never changes the data. It only changes how you view it — by combining rows across tables temporarily.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182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CAB8"/>
                </a:solidFill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6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Types of Joins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16459"/>
          </a:xfrm>
          <a:prstGeom prst="rect">
            <a:avLst/>
          </a:prstGeom>
          <a:solidFill>
            <a:srgbClr val="D4CAB8"/>
          </a:solidFill>
          <a:ln w="12700">
            <a:solidFill>
              <a:srgbClr val="D4CA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A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4114800" cy="384048"/>
          </a:xfrm>
          <a:prstGeom prst="rect">
            <a:avLst/>
          </a:prstGeom>
          <a:solidFill>
            <a:srgbClr val="D44A00"/>
          </a:solidFill>
          <a:ln w="12700">
            <a:solidFill>
              <a:srgbClr val="D44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05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INNER JOIN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444752"/>
            <a:ext cx="3913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A6E5F"/>
                </a:solidFill>
              </a:rPr>
              <a:t>Returns only rows that have a match in BOTH tables. Non-matching rows are excluded from both sides.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176272"/>
            <a:ext cx="3913632" cy="18288"/>
          </a:xfrm>
          <a:prstGeom prst="rect">
            <a:avLst/>
          </a:prstGeom>
          <a:solidFill>
            <a:srgbClr val="EDE7DC"/>
          </a:solidFill>
          <a:ln w="12700">
            <a:solidFill>
              <a:srgbClr val="EDE7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240280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D44A00"/>
                </a:solidFill>
              </a:rPr>
              <a:t>When: When you only want records that exist in both tables.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852928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A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52928"/>
            <a:ext cx="4114800" cy="384048"/>
          </a:xfrm>
          <a:prstGeom prst="rect">
            <a:avLst/>
          </a:prstGeom>
          <a:solidFill>
            <a:srgbClr val="0A7A5A"/>
          </a:solidFill>
          <a:ln w="12700">
            <a:solidFill>
              <a:srgbClr val="0A7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8529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LEFT JOIN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3291840"/>
            <a:ext cx="3913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A6E5F"/>
                </a:solidFill>
              </a:rPr>
              <a:t>Returns ALL rows from the LEFT table and matching rows from the right. Non-matching right rows show NULL.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4023360"/>
            <a:ext cx="3913632" cy="18288"/>
          </a:xfrm>
          <a:prstGeom prst="rect">
            <a:avLst/>
          </a:prstGeom>
          <a:solidFill>
            <a:srgbClr val="EDE7DC"/>
          </a:solidFill>
          <a:ln w="12700">
            <a:solidFill>
              <a:srgbClr val="EDE7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08736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0A7A5A"/>
                </a:solidFill>
              </a:rPr>
              <a:t>When: When you want to keep all records from the main table.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10058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A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005840"/>
            <a:ext cx="4114800" cy="384048"/>
          </a:xfrm>
          <a:prstGeom prst="rect">
            <a:avLst/>
          </a:prstGeom>
          <a:solidFill>
            <a:srgbClr val="7C1FA0"/>
          </a:solidFill>
          <a:ln w="12700">
            <a:solidFill>
              <a:srgbClr val="7C1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1005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RIGHT JOIN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10328" y="1444752"/>
            <a:ext cx="3913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A6E5F"/>
                </a:solidFill>
              </a:rPr>
              <a:t>Returns ALL rows from the RIGHT table and matching rows from the left. Non-matching left rows show NULL.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10328" y="2176272"/>
            <a:ext cx="3913632" cy="18288"/>
          </a:xfrm>
          <a:prstGeom prst="rect">
            <a:avLst/>
          </a:prstGeom>
          <a:solidFill>
            <a:srgbClr val="EDE7DC"/>
          </a:solidFill>
          <a:ln w="12700">
            <a:solidFill>
              <a:srgbClr val="EDE7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2240280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C1FA0"/>
                </a:solidFill>
              </a:rPr>
              <a:t>When: Less common — same result as LEFT JOIN with tables swapped.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852928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A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852928"/>
            <a:ext cx="4114800" cy="384048"/>
          </a:xfrm>
          <a:prstGeom prst="rect">
            <a:avLst/>
          </a:prstGeom>
          <a:solidFill>
            <a:srgbClr val="C4873A"/>
          </a:solidFill>
          <a:ln w="12700">
            <a:solidFill>
              <a:srgbClr val="C487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28529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FULL OUTER JOIN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10328" y="3291840"/>
            <a:ext cx="3913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A6E5F"/>
                </a:solidFill>
              </a:rPr>
              <a:t>Returns ALL rows from BOTH tables. Rows without a match on either side show NULL for the missing columns.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10328" y="4023360"/>
            <a:ext cx="3913632" cy="18288"/>
          </a:xfrm>
          <a:prstGeom prst="rect">
            <a:avLst/>
          </a:prstGeom>
          <a:solidFill>
            <a:srgbClr val="EDE7DC"/>
          </a:solidFill>
          <a:ln w="12700">
            <a:solidFill>
              <a:srgbClr val="EDE7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0328" y="408736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C4873A"/>
                </a:solidFill>
              </a:rPr>
              <a:t>When: When you want to see everything — matches and non-matches.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182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CAB8"/>
                </a:solidFill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4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INNER JOIN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16459"/>
          </a:xfrm>
          <a:prstGeom prst="rect">
            <a:avLst/>
          </a:prstGeom>
          <a:solidFill>
            <a:srgbClr val="D4CAB8"/>
          </a:solidFill>
          <a:ln w="12700">
            <a:solidFill>
              <a:srgbClr val="D4CA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E5F"/>
                </a:solidFill>
              </a:rPr>
              <a:t>Returns only rows that have a matching value in BOTH tables.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2560320" cy="2560320"/>
          </a:xfrm>
          <a:prstGeom prst="ellipse">
            <a:avLst/>
          </a:prstGeom>
          <a:solidFill>
            <a:srgbClr val="FFE8D6">
              <a:alpha val="80000"/>
            </a:srgbClr>
          </a:solidFill>
          <a:ln w="31750">
            <a:solidFill>
              <a:srgbClr val="D44A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1417320"/>
            <a:ext cx="2560320" cy="2560320"/>
          </a:xfrm>
          <a:prstGeom prst="ellipse">
            <a:avLst/>
          </a:prstGeom>
          <a:solidFill>
            <a:srgbClr val="FFE8D6">
              <a:alpha val="80000"/>
            </a:srgbClr>
          </a:solidFill>
          <a:ln w="31750">
            <a:solidFill>
              <a:srgbClr val="D44A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1554480"/>
            <a:ext cx="1463040" cy="2286000"/>
          </a:xfrm>
          <a:prstGeom prst="ellipse">
            <a:avLst/>
          </a:prstGeom>
          <a:solidFill>
            <a:srgbClr val="D44A00">
              <a:alpha val="70000"/>
            </a:srgbClr>
          </a:solidFill>
          <a:ln w="12700">
            <a:solidFill>
              <a:srgbClr val="D44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4A00"/>
                </a:solidFill>
              </a:rPr>
              <a:t>Customers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4A00"/>
                </a:solidFill>
              </a:rPr>
              <a:t>Orders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Match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4A00"/>
                </a:solidFill>
              </a:rPr>
              <a:t>Only matched rows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0" y="1005840"/>
            <a:ext cx="3474720" cy="1920240"/>
          </a:xfrm>
          <a:prstGeom prst="rect">
            <a:avLst/>
          </a:prstGeom>
          <a:solidFill>
            <a:srgbClr val="1E1810"/>
          </a:solidFill>
          <a:ln w="12700">
            <a:solidFill>
              <a:srgbClr val="3A3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23560" y="109728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c.first_name, o.order_id
</a:t>
            </a:r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 c
</a:t>
            </a:r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D44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o
</a:t>
            </a:r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c.customer_id = o.customer_id;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3063240"/>
            <a:ext cx="34747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A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96128" y="31272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4A00"/>
                </a:solidFill>
              </a:rPr>
              <a:t>Key points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96128" y="34930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610"/>
                </a:solidFill>
              </a:rPr>
              <a:t>Only customers who placed at least one order appear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96128" y="38404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610"/>
                </a:solidFill>
              </a:rPr>
              <a:t>Customers with no orders are excluded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96128" y="41879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610"/>
                </a:solidFill>
              </a:rPr>
              <a:t>Orders with invalid customer_id are excluded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96128" y="453542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610"/>
                </a:solidFill>
              </a:rPr>
              <a:t>Most commonly used JOIN type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182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CAB8"/>
                </a:solidFill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7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LEFT JOIN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16459"/>
          </a:xfrm>
          <a:prstGeom prst="rect">
            <a:avLst/>
          </a:prstGeom>
          <a:solidFill>
            <a:srgbClr val="D4CAB8"/>
          </a:solidFill>
          <a:ln w="12700">
            <a:solidFill>
              <a:srgbClr val="D4CA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E5F"/>
                </a:solidFill>
              </a:rPr>
              <a:t>Returns ALL rows from the LEFT table + matching rows from the right. Non-matching right rows show NULL.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2560320" cy="2560320"/>
          </a:xfrm>
          <a:prstGeom prst="ellipse">
            <a:avLst/>
          </a:prstGeom>
          <a:solidFill>
            <a:srgbClr val="0A7A5A">
              <a:alpha val="70000"/>
            </a:srgbClr>
          </a:solidFill>
          <a:ln w="31750">
            <a:solidFill>
              <a:srgbClr val="0A7A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1417320"/>
            <a:ext cx="2560320" cy="2560320"/>
          </a:xfrm>
          <a:prstGeom prst="ellipse">
            <a:avLst/>
          </a:prstGeom>
          <a:solidFill>
            <a:srgbClr val="F0F8F5">
              <a:alpha val="90000"/>
            </a:srgbClr>
          </a:solidFill>
          <a:ln w="31750">
            <a:solidFill>
              <a:srgbClr val="0A7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68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(ALL)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7A5A"/>
                </a:solidFill>
              </a:rPr>
              <a:t>Orders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7A5A"/>
                </a:solidFill>
              </a:rPr>
              <a:t>(matched)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7A5A"/>
                </a:solidFill>
              </a:rPr>
              <a:t>All left rows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1005840"/>
            <a:ext cx="3474720" cy="1920240"/>
          </a:xfrm>
          <a:prstGeom prst="rect">
            <a:avLst/>
          </a:prstGeom>
          <a:solidFill>
            <a:srgbClr val="1E1810"/>
          </a:solidFill>
          <a:ln w="12700">
            <a:solidFill>
              <a:srgbClr val="3A3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23560" y="109728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c.first_name, o.order_id
</a:t>
            </a:r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 c
</a:t>
            </a:r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0A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o
</a:t>
            </a:r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c.customer_id = o.customer_id;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0" y="3063240"/>
            <a:ext cx="34747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A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96128" y="31272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A5A"/>
                </a:solidFill>
              </a:rPr>
              <a:t>Key points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96128" y="34930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610"/>
                </a:solidFill>
              </a:rPr>
              <a:t>All customers appear — even those with no orders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96128" y="38404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610"/>
                </a:solidFill>
              </a:rPr>
              <a:t>Customers with no orders show NULL in order columns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96128" y="41879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610"/>
                </a:solidFill>
              </a:rPr>
              <a:t>Great for finding unmatched records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96128" y="453542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610"/>
                </a:solidFill>
              </a:rPr>
              <a:t>Most used JOIN after INNER JOIN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182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CAB8"/>
                </a:solidFill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C1F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RIGHT JOIN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16459"/>
          </a:xfrm>
          <a:prstGeom prst="rect">
            <a:avLst/>
          </a:prstGeom>
          <a:solidFill>
            <a:srgbClr val="D4CAB8"/>
          </a:solidFill>
          <a:ln w="12700">
            <a:solidFill>
              <a:srgbClr val="D4CA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E5F"/>
                </a:solidFill>
              </a:rPr>
              <a:t>Returns ALL rows from the RIGHT table + matching rows from the left. Mirror image of LEFT JOIN.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2560320" cy="2560320"/>
          </a:xfrm>
          <a:prstGeom prst="ellipse">
            <a:avLst/>
          </a:prstGeom>
          <a:solidFill>
            <a:srgbClr val="F5F0FA">
              <a:alpha val="90000"/>
            </a:srgbClr>
          </a:solidFill>
          <a:ln w="31750">
            <a:solidFill>
              <a:srgbClr val="7C1F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1417320"/>
            <a:ext cx="2560320" cy="2560320"/>
          </a:xfrm>
          <a:prstGeom prst="ellipse">
            <a:avLst/>
          </a:prstGeom>
          <a:solidFill>
            <a:srgbClr val="7C1FA0">
              <a:alpha val="70000"/>
            </a:srgbClr>
          </a:solidFill>
          <a:ln w="31750">
            <a:solidFill>
              <a:srgbClr val="7C1F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68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1FA0"/>
                </a:solidFill>
              </a:rPr>
              <a:t>Customers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C1FA0"/>
                </a:solidFill>
              </a:rPr>
              <a:t>(matched)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Orders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(ALL)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1FA0"/>
                </a:solidFill>
              </a:rPr>
              <a:t>All right rows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1005840"/>
            <a:ext cx="3474720" cy="1920240"/>
          </a:xfrm>
          <a:prstGeom prst="rect">
            <a:avLst/>
          </a:prstGeom>
          <a:solidFill>
            <a:srgbClr val="1E1810"/>
          </a:solidFill>
          <a:ln w="12700">
            <a:solidFill>
              <a:srgbClr val="3A3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23560" y="109728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c.first_name, o.order_id
</a:t>
            </a:r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 c
</a:t>
            </a:r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7C1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JOIN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o
</a:t>
            </a:r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c.customer_id = o.customer_id;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0" y="3063240"/>
            <a:ext cx="34747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A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96128" y="31272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1FA0"/>
                </a:solidFill>
              </a:rPr>
              <a:t>Key points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96128" y="34930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610"/>
                </a:solidFill>
              </a:rPr>
              <a:t>All orders appear — even orphan orders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96128" y="38404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610"/>
                </a:solidFill>
              </a:rPr>
              <a:t>Orders with no matching customer show NULL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96128" y="41879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610"/>
                </a:solidFill>
              </a:rPr>
              <a:t>Rarely used — swap tables and use LEFT JOIN instead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96128" y="453542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610"/>
                </a:solidFill>
              </a:rPr>
              <a:t>Same result as LEFT JOIN with tables reversed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182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CAB8"/>
                </a:solidFill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8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OUTER JOIN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16459"/>
          </a:xfrm>
          <a:prstGeom prst="rect">
            <a:avLst/>
          </a:prstGeom>
          <a:solidFill>
            <a:srgbClr val="D4CAB8"/>
          </a:solidFill>
          <a:ln w="12700">
            <a:solidFill>
              <a:srgbClr val="D4CA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E5F"/>
                </a:solidFill>
              </a:rPr>
              <a:t>Returns ALL rows from BOTH tables. Non-matching rows show NULL on the missing side.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2560320" cy="2560320"/>
          </a:xfrm>
          <a:prstGeom prst="ellipse">
            <a:avLst/>
          </a:prstGeom>
          <a:solidFill>
            <a:srgbClr val="C4873A">
              <a:alpha val="70000"/>
            </a:srgbClr>
          </a:solidFill>
          <a:ln w="31750">
            <a:solidFill>
              <a:srgbClr val="C487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1417320"/>
            <a:ext cx="2560320" cy="2560320"/>
          </a:xfrm>
          <a:prstGeom prst="ellipse">
            <a:avLst/>
          </a:prstGeom>
          <a:solidFill>
            <a:srgbClr val="C4873A">
              <a:alpha val="70000"/>
            </a:srgbClr>
          </a:solidFill>
          <a:ln w="31750">
            <a:solidFill>
              <a:srgbClr val="C48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68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(ALL)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Orders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(ALL)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873A"/>
                </a:solidFill>
              </a:rPr>
              <a:t>Everything from both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1005840"/>
            <a:ext cx="3474720" cy="2560320"/>
          </a:xfrm>
          <a:prstGeom prst="rect">
            <a:avLst/>
          </a:prstGeom>
          <a:solidFill>
            <a:srgbClr val="1E1810"/>
          </a:solidFill>
          <a:ln w="12700">
            <a:solidFill>
              <a:srgbClr val="3A3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23560" y="109728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6B5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MySQL workaround (no native FULL OUTER)
</a:t>
            </a:r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c.first_name, o.order_id
</a:t>
            </a:r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 c
</a:t>
            </a:r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A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o ON c.customer_id = o.customer_id
</a:t>
            </a:r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C48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
</a:t>
            </a:r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c.first_name, o.order_id
</a:t>
            </a:r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 c
</a:t>
            </a:r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7C1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JOIN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o ON c.customer_id = o.customer_id;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3703320"/>
            <a:ext cx="3474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A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96128" y="3749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873A"/>
                </a:solidFill>
              </a:rPr>
              <a:t>Key points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96128" y="4096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610"/>
                </a:solidFill>
              </a:rPr>
              <a:t>MySQL doesn't support FULL OUTER JOIN natively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596128" y="44165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610"/>
                </a:solidFill>
              </a:rPr>
              <a:t>Use LEFT JOIN + UNION + RIGHT JOIN instead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96128" y="47365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610"/>
                </a:solidFill>
              </a:rPr>
              <a:t>All rows appear — matches and non-matches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182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CAB8"/>
                </a:solidFill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6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Common Mistakes with JOINs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16459"/>
          </a:xfrm>
          <a:prstGeom prst="rect">
            <a:avLst/>
          </a:prstGeom>
          <a:solidFill>
            <a:srgbClr val="D4CAB8"/>
          </a:solidFill>
          <a:ln w="12700">
            <a:solidFill>
              <a:srgbClr val="D4CA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A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502920" cy="1828800"/>
          </a:xfrm>
          <a:prstGeom prst="rect">
            <a:avLst/>
          </a:prstGeom>
          <a:solidFill>
            <a:srgbClr val="C02020"/>
          </a:solidFill>
          <a:ln w="12700">
            <a:solidFill>
              <a:srgbClr val="C02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0515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610"/>
                </a:solidFill>
              </a:rPr>
              <a:t>Forgetting the ON clause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490472"/>
            <a:ext cx="34290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6E5F"/>
                </a:solidFill>
              </a:rPr>
              <a:t>Every JOIN needs an ON clause. Without it MySQL does a CROSS JOIN — every row matched with every row. On 100 rows each, that's 10,000 rows returned.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A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971800"/>
            <a:ext cx="502920" cy="1828800"/>
          </a:xfrm>
          <a:prstGeom prst="rect">
            <a:avLst/>
          </a:prstGeom>
          <a:solidFill>
            <a:srgbClr val="D44A00"/>
          </a:solidFill>
          <a:ln w="12700">
            <a:solidFill>
              <a:srgbClr val="D44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175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0632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610"/>
                </a:solidFill>
              </a:rPr>
              <a:t>Ambiguous column names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3502152"/>
            <a:ext cx="34290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6E5F"/>
                </a:solidFill>
              </a:rPr>
              <a:t>If both tables have a column called 'id', MySQL throws an error. Always prefix columns with the table alias: c.customer_id not just customer_id.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96012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A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960120"/>
            <a:ext cx="502920" cy="1828800"/>
          </a:xfrm>
          <a:prstGeom prst="rect">
            <a:avLst/>
          </a:prstGeom>
          <a:solidFill>
            <a:srgbClr val="7C1FA0"/>
          </a:solidFill>
          <a:ln w="12700">
            <a:solidFill>
              <a:srgbClr val="7C1F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0058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94960" y="10515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610"/>
                </a:solidFill>
              </a:rPr>
              <a:t>Using WHERE instead of 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1490472"/>
            <a:ext cx="34290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6E5F"/>
                </a:solidFill>
              </a:rPr>
              <a:t>Filtering inside ON is for the join condition. Filtering inside WHERE happens after the join. Confusing them changes your results especially with LEFT JOIN.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97180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A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971800"/>
            <a:ext cx="502920" cy="1828800"/>
          </a:xfrm>
          <a:prstGeom prst="rect">
            <a:avLst/>
          </a:prstGeom>
          <a:solidFill>
            <a:srgbClr val="0A7A5A"/>
          </a:solidFill>
          <a:ln w="12700">
            <a:solidFill>
              <a:srgbClr val="0A7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0175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94960" y="30632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610"/>
                </a:solidFill>
              </a:rPr>
              <a:t>Expecting more rows than exist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3502152"/>
            <a:ext cx="34290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6E5F"/>
                </a:solidFill>
              </a:rPr>
              <a:t>INNER JOIN can only return as many rows as the smaller matching set. If no customer has orders, INNER JOIN returns zero rows for them.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6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Types — Quick Reference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8229600" cy="16459"/>
          </a:xfrm>
          <a:prstGeom prst="rect">
            <a:avLst/>
          </a:prstGeom>
          <a:solidFill>
            <a:srgbClr val="4A3E2E"/>
          </a:solidFill>
          <a:ln w="12700">
            <a:solidFill>
              <a:srgbClr val="4A3E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B8B70"/>
                </a:solidFill>
              </a:rPr>
              <a:t>JOIN TYPE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60320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B8B70"/>
                </a:solidFill>
              </a:rPr>
              <a:t>RETURNS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20640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B8B70"/>
                </a:solidFill>
              </a:rPr>
              <a:t>NULLs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766560" y="1005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B8B70"/>
                </a:solidFill>
              </a:rPr>
              <a:t>COMMON USE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16459"/>
          </a:xfrm>
          <a:prstGeom prst="rect">
            <a:avLst/>
          </a:prstGeom>
          <a:solidFill>
            <a:srgbClr val="3A3020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63040"/>
            <a:ext cx="8229600" cy="658368"/>
          </a:xfrm>
          <a:prstGeom prst="rect">
            <a:avLst/>
          </a:prstGeom>
          <a:solidFill>
            <a:srgbClr val="22201A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63040"/>
            <a:ext cx="54864" cy="658368"/>
          </a:xfrm>
          <a:prstGeom prst="rect">
            <a:avLst/>
          </a:prstGeom>
          <a:solidFill>
            <a:srgbClr val="D44A00"/>
          </a:solidFill>
          <a:ln w="12700">
            <a:solidFill>
              <a:srgbClr val="D44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4630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4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14630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BFA8"/>
                </a:solidFill>
              </a:rPr>
              <a:t>Matching rows only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146304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BFA8"/>
                </a:solidFill>
              </a:rPr>
              <a:t>No NULLs from join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66560" y="14630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BFA8"/>
                </a:solidFill>
              </a:rPr>
              <a:t>Orders WITH customers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212848"/>
            <a:ext cx="8229600" cy="658368"/>
          </a:xfrm>
          <a:prstGeom prst="rect">
            <a:avLst/>
          </a:prstGeom>
          <a:solidFill>
            <a:srgbClr val="22201A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212848"/>
            <a:ext cx="54864" cy="658368"/>
          </a:xfrm>
          <a:prstGeom prst="rect">
            <a:avLst/>
          </a:prstGeom>
          <a:solidFill>
            <a:srgbClr val="0A7A5A"/>
          </a:solidFill>
          <a:ln w="12700">
            <a:solidFill>
              <a:srgbClr val="0A7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2128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0" y="22128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BFA8"/>
                </a:solidFill>
              </a:rPr>
              <a:t>All LEFT + matching RIGHT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221284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BFA8"/>
                </a:solidFill>
              </a:rPr>
              <a:t>NULLs on right side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22128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BFA8"/>
                </a:solidFill>
              </a:rPr>
              <a:t>All customers, with/without orders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962656"/>
            <a:ext cx="8229600" cy="658368"/>
          </a:xfrm>
          <a:prstGeom prst="rect">
            <a:avLst/>
          </a:prstGeom>
          <a:solidFill>
            <a:srgbClr val="22201A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962656"/>
            <a:ext cx="54864" cy="658368"/>
          </a:xfrm>
          <a:prstGeom prst="rect">
            <a:avLst/>
          </a:prstGeom>
          <a:solidFill>
            <a:srgbClr val="7C1FA0"/>
          </a:solidFill>
          <a:ln w="12700">
            <a:solidFill>
              <a:srgbClr val="7C1F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96265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1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JOIN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60320" y="296265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BFA8"/>
                </a:solidFill>
              </a:rPr>
              <a:t>All RIGHT + matching LEFT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2962656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BFA8"/>
                </a:solidFill>
              </a:rPr>
              <a:t>NULLs on left side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0" y="296265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BFA8"/>
                </a:solidFill>
              </a:rPr>
              <a:t>All orders, with/without customers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712464"/>
            <a:ext cx="8229600" cy="658368"/>
          </a:xfrm>
          <a:prstGeom prst="rect">
            <a:avLst/>
          </a:prstGeom>
          <a:solidFill>
            <a:srgbClr val="22201A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712464"/>
            <a:ext cx="54864" cy="658368"/>
          </a:xfrm>
          <a:prstGeom prst="rect">
            <a:avLst/>
          </a:prstGeom>
          <a:solidFill>
            <a:srgbClr val="C4873A"/>
          </a:solidFill>
          <a:ln w="12700">
            <a:solidFill>
              <a:srgbClr val="C487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71246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8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OUTER JOIN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560320" y="371246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BFA8"/>
                </a:solidFill>
              </a:rPr>
              <a:t>Everything from both tables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20640" y="3712464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BFA8"/>
                </a:solidFill>
              </a:rPr>
              <a:t>NULLs on both sides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66560" y="371246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BFA8"/>
                </a:solidFill>
              </a:rPr>
              <a:t>See all unmatched records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8B70"/>
                </a:solidFill>
              </a:rPr>
              <a:t>Next: INNER JOIN, LEFT JOIN &amp; RIGHT JOIN — live queries in MySQL Workbench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Joins Explained — Ep.07</dc:title>
  <dc:subject>PptxGenJS Presentation</dc:subject>
  <dc:creator>PptxGenJS</dc:creator>
  <cp:lastModifiedBy>PptxGenJS</cp:lastModifiedBy>
  <cp:revision>1</cp:revision>
  <dcterms:created xsi:type="dcterms:W3CDTF">2026-06-07T07:25:08Z</dcterms:created>
  <dcterms:modified xsi:type="dcterms:W3CDTF">2026-06-07T07:25:08Z</dcterms:modified>
</cp:coreProperties>
</file>